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开场强调：这不是8个孤立功能，而是同一个个人智能体从代表我、替我办事、与我同在，到在满足每个个体基础上完成全局调度的成长。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四阶段名称和主题严格采用最新规划。第四阶段不是普通统一调度，而是个体需求先被满足，再形成全局协作。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没有数字分身，MCP只是通用自动化；没有MCP，视觉只是识别；没有个体方案，全局调度就会退化为统一安排。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第一阶段重点不是数字人外观，而是可信个人身份。用户拥有它、维护它、授权它，并能随时纠正它。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这一页必须讲清：独立H5只是载体，对话式持续维护才是价值。用户不需要学会管理软件，只要像平时交流一样告诉数字分身自己的变化。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强调数字分身透明表明身份，粉丝决定是否允许记忆。它延续关系，但不能制造虚假亲密、泄露隐私或作出未授权承诺。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第二阶段不出现摄像头、视觉或可穿戴。所有场景都由用户主动表达目标，智能伙伴通过数字上下文和MCP行动。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场景来自原“我只说一句，它把整件事办完”，但移除耳机和现场感知。核心是目标理解、多MCP编排、异常自动替代，以及需要时把高风险决定交回用户。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标题去掉“不用打开任何App”，避免提前进入第三阶段。这里证明第二阶段已经能通过多个MCP把一次复杂出行从目标推进到结果。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持续在场不是持续打扰。它要低打扰地保持情境，在关系重逢、谈判等关键时刻把记忆、判断和行动连接起来。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视觉识别只能给出可能性，不能替代身份确认。真正价值是把人物识别与关系记忆、未完成承诺和披露边界结合起来。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强调第三阶段新增的是现场理解与持续在场；第二阶段的MCP作为行动底座被继续调用。智能伙伴提供依据，重大商务判断仍由本人作出。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第四阶段的核心不是统一管理，而是个体价值先闭环。每个人仍由自己的智能伙伴代表，超级元梦只在各方方案可接受时组织全局协作。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这一页是全套PPT最重要的第四阶段解释。全局调度不是一刀切，而是先生成A、B、C各自可接受的个性化方案，再计算交集、协商并形成全局调度。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系统先分别计算A和B的收益、成本、时间与边界。只有双方都有可接受方案，才进入有限披露和协商。超级元梦不是为了促成合作而牺牲任何一方。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先讲四类用户收到四种不同方案，再讲这些方案汇总出的真实需求如何驱动交通、餐饮、住宿和医疗资源调度。整体效率不能牺牲个体安全与关键需求。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总结能力叠加，同时重申共同底座：用户拥有身份和数据、授权内自主、重大事项交回本人、全过程可追溯。第四阶段同样不能突破这些原则。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最后回收：数字分身建立个人身份，智能伙伴连接现实服务，持续在场进入用户现场，超级元梦则在满足每个个体的基础上实现全局协作。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8D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84848" y="658368"/>
            <a:ext cx="4663440" cy="4663440"/>
          </a:xfrm>
          <a:prstGeom prst="ellipse">
            <a:avLst/>
          </a:prstGeom>
          <a:solidFill>
            <a:srgbClr val="38D8FF">
              <a:alpha val="4000"/>
            </a:srgbClr>
          </a:solidFill>
          <a:ln w="12700">
            <a:solidFill>
              <a:srgbClr val="38D8FF">
                <a:alpha val="42000"/>
              </a:srgbClr>
            </a:solidFill>
            <a:prstDash val="solid"/>
          </a:ln>
        </p:spPr>
      </p:sp>
      <p:pic>
        <p:nvPicPr>
          <p:cNvPr id="38" name="Image 0" descr="E:\元梦工作空间\超级智能体\图片素材\蓝色全息网格粒子人像-V2-透明背景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7059168" y="694944"/>
            <a:ext cx="4005072" cy="526694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49808" y="65836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2026 ROADMAP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" y="1161288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超级智能体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新版四阶段规划</a:t>
            </a:r>
            <a:endParaRPr lang="en-US" sz="3400" dirty="0"/>
          </a:p>
        </p:txBody>
      </p:sp>
      <p:sp>
        <p:nvSpPr>
          <p:cNvPr id="41" name="Text 38"/>
          <p:cNvSpPr/>
          <p:nvPr/>
        </p:nvSpPr>
        <p:spPr>
          <a:xfrm>
            <a:off x="768096" y="28986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基于最新四阶段规划与8个核心场景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768096" y="3822192"/>
            <a:ext cx="1307592" cy="365760"/>
          </a:xfrm>
          <a:prstGeom prst="roundRect">
            <a:avLst>
              <a:gd name="adj" fmla="val 12500"/>
            </a:avLst>
          </a:prstGeom>
          <a:solidFill>
            <a:srgbClr val="38D8FF">
              <a:alpha val="14000"/>
            </a:srgbClr>
          </a:solidFill>
          <a:ln w="12700">
            <a:solidFill>
              <a:srgbClr val="38D8FF">
                <a:alpha val="6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9536" y="387705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数字分身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2075688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249424" y="3822192"/>
            <a:ext cx="1307592" cy="365760"/>
          </a:xfrm>
          <a:prstGeom prst="roundRect">
            <a:avLst>
              <a:gd name="adj" fmla="val 12500"/>
            </a:avLst>
          </a:prstGeom>
          <a:solidFill>
            <a:srgbClr val="4E8DFF">
              <a:alpha val="14000"/>
            </a:srgbClr>
          </a:solidFill>
          <a:ln w="12700">
            <a:solidFill>
              <a:srgbClr val="4E8DFF">
                <a:alpha val="6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340864" y="387705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智能伙伴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557016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730752" y="3822192"/>
            <a:ext cx="1307592" cy="365760"/>
          </a:xfrm>
          <a:prstGeom prst="roundRect">
            <a:avLst>
              <a:gd name="adj" fmla="val 12500"/>
            </a:avLst>
          </a:prstGeom>
          <a:solidFill>
            <a:srgbClr val="F2B95F">
              <a:alpha val="14000"/>
            </a:srgbClr>
          </a:solidFill>
          <a:ln w="12700">
            <a:solidFill>
              <a:srgbClr val="F2B95F">
                <a:alpha val="6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22192" y="387705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持续在场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038344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212080" y="3822192"/>
            <a:ext cx="1307592" cy="365760"/>
          </a:xfrm>
          <a:prstGeom prst="roundRect">
            <a:avLst>
              <a:gd name="adj" fmla="val 12500"/>
            </a:avLst>
          </a:prstGeom>
          <a:solidFill>
            <a:srgbClr val="AC88FF">
              <a:alpha val="14000"/>
            </a:srgbClr>
          </a:solidFill>
          <a:ln w="12700">
            <a:solidFill>
              <a:srgbClr val="AC88FF">
                <a:alpha val="65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0" y="387705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全局调度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768096" y="60990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4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ROADSHOW DECK · 2026.09.02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8D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EVOLUTION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同一个智能体，四次能力跃迁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每一阶段保留前一阶段能力，并新增一种决定性能力。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956816"/>
            <a:ext cx="2560320" cy="3401568"/>
          </a:xfrm>
          <a:prstGeom prst="roundRect">
            <a:avLst>
              <a:gd name="adj" fmla="val 178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2960" y="26700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822960" y="32735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代表我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822960" y="3904488"/>
            <a:ext cx="2011680" cy="0"/>
          </a:xfrm>
          <a:prstGeom prst="line">
            <a:avLst/>
          </a:prstGeom>
          <a:noFill/>
          <a:ln w="12700">
            <a:solidFill>
              <a:srgbClr val="38D8FF">
                <a:alpha val="75000"/>
              </a:srgbClr>
            </a:solidFill>
            <a:prstDash val="solid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822960" y="409651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· 人格 · 记忆 · 授权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0" y="32918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3419856" y="1956816"/>
            <a:ext cx="2560320" cy="3401568"/>
          </a:xfrm>
          <a:prstGeom prst="roundRect">
            <a:avLst>
              <a:gd name="adj" fmla="val 178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84448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584448" y="26700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智能伙伴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3584448" y="32735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替我办事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3584448" y="3904488"/>
            <a:ext cx="2011680" cy="0"/>
          </a:xfrm>
          <a:prstGeom prst="line">
            <a:avLst/>
          </a:prstGeom>
          <a:noFill/>
          <a:ln w="12700">
            <a:solidFill>
              <a:srgbClr val="4E8DFF">
                <a:alpha val="75000"/>
              </a:srgbClr>
            </a:solidFill>
            <a:prstDash val="solid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3584448" y="409651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· 任务 · 执行 · 回执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61888" y="32918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6181344" y="1956816"/>
            <a:ext cx="2560320" cy="3401568"/>
          </a:xfrm>
          <a:prstGeom prst="roundRect">
            <a:avLst>
              <a:gd name="adj" fmla="val 178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345936" y="26700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持续在场</a:t>
            </a:r>
            <a:endParaRPr lang="en-US" sz="2300" dirty="0"/>
          </a:p>
        </p:txBody>
      </p:sp>
      <p:sp>
        <p:nvSpPr>
          <p:cNvPr id="57" name="Text 55"/>
          <p:cNvSpPr/>
          <p:nvPr/>
        </p:nvSpPr>
        <p:spPr>
          <a:xfrm>
            <a:off x="6345936" y="32735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与我同在</a:t>
            </a:r>
            <a:endParaRPr lang="en-US" sz="1550" dirty="0"/>
          </a:p>
        </p:txBody>
      </p:sp>
      <p:sp>
        <p:nvSpPr>
          <p:cNvPr id="58" name="Shape 56"/>
          <p:cNvSpPr/>
          <p:nvPr/>
        </p:nvSpPr>
        <p:spPr>
          <a:xfrm>
            <a:off x="6345936" y="3904488"/>
            <a:ext cx="2011680" cy="0"/>
          </a:xfrm>
          <a:prstGeom prst="line">
            <a:avLst/>
          </a:prstGeom>
          <a:noFill/>
          <a:ln w="12700">
            <a:solidFill>
              <a:srgbClr val="F2B95F">
                <a:alpha val="75000"/>
              </a:srgbClr>
            </a:solidFill>
            <a:prstDash val="solid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6345936" y="409651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· 穿戴 · 情境 · 实时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23376" y="32918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8942832" y="1956816"/>
            <a:ext cx="2560320" cy="3401568"/>
          </a:xfrm>
          <a:prstGeom prst="roundRect">
            <a:avLst>
              <a:gd name="adj" fmla="val 178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07424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107424" y="26700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全局调度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9107424" y="327355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个体优先，全局协作</a:t>
            </a:r>
            <a:endParaRPr lang="en-US" sz="1550" dirty="0"/>
          </a:p>
        </p:txBody>
      </p:sp>
      <p:sp>
        <p:nvSpPr>
          <p:cNvPr id="65" name="Shape 63"/>
          <p:cNvSpPr/>
          <p:nvPr/>
        </p:nvSpPr>
        <p:spPr>
          <a:xfrm>
            <a:off x="9107424" y="3904488"/>
            <a:ext cx="2011680" cy="0"/>
          </a:xfrm>
          <a:prstGeom prst="line">
            <a:avLst/>
          </a:prstGeom>
          <a:noFill/>
          <a:ln w="12700">
            <a:solidFill>
              <a:srgbClr val="AC88FF">
                <a:alpha val="75000"/>
              </a:srgbClr>
            </a:solidFill>
            <a:prstDash val="solid"/>
            <a:tailEnd type="none"/>
          </a:ln>
        </p:spPr>
      </p:sp>
      <p:sp>
        <p:nvSpPr>
          <p:cNvPr id="66" name="Text 64"/>
          <p:cNvSpPr/>
          <p:nvPr/>
        </p:nvSpPr>
        <p:spPr>
          <a:xfrm>
            <a:off x="9107424" y="4096512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 · 协商 · 编排 · 调度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97280" y="5769864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代表我  →  替我办事  →  与我同在  →  全局调度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4E8D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STACK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四个阶段，搭出完整能力大厦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个人大脑是底座；行动、在场与全局调度逐层叠加。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15568" y="4965192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38D8FF">
              <a:alpha val="16000"/>
            </a:srgbClr>
          </a:solidFill>
          <a:ln w="15240">
            <a:solidFill>
              <a:srgbClr val="38D8FF">
                <a:alpha val="84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35024" y="50932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761488" y="5111496"/>
            <a:ext cx="8092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个人身份 · 人格 · 长期记忆 · 关系 · 授权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1801368" y="3977640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4E8DFF">
              <a:alpha val="16000"/>
            </a:srgbClr>
          </a:solidFill>
          <a:ln w="15240">
            <a:solidFill>
              <a:srgbClr val="4E8DFF">
                <a:alpha val="84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20824" y="41056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智能伙伴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447288" y="4123944"/>
            <a:ext cx="6720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MCP能力网络 · 任务规划 · 现实行动 · 结果回执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2487168" y="2990088"/>
            <a:ext cx="7223760" cy="749808"/>
          </a:xfrm>
          <a:prstGeom prst="roundRect">
            <a:avLst>
              <a:gd name="adj" fmla="val 6098"/>
            </a:avLst>
          </a:prstGeom>
          <a:solidFill>
            <a:srgbClr val="F2B95F">
              <a:alpha val="16000"/>
            </a:srgbClr>
          </a:solidFill>
          <a:ln w="15240">
            <a:solidFill>
              <a:srgbClr val="F2B95F">
                <a:alpha val="84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06624" y="31181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持续在场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133088" y="3136392"/>
            <a:ext cx="5349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视觉理解 · 可穿戴设备 · 连续情境 · 实时判断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3172968" y="2002536"/>
            <a:ext cx="5852160" cy="749808"/>
          </a:xfrm>
          <a:prstGeom prst="roundRect">
            <a:avLst>
              <a:gd name="adj" fmla="val 6098"/>
            </a:avLst>
          </a:prstGeom>
          <a:solidFill>
            <a:srgbClr val="AC88FF">
              <a:alpha val="16000"/>
            </a:srgbClr>
          </a:solidFill>
          <a:ln w="15240">
            <a:solidFill>
              <a:srgbClr val="AC88FF">
                <a:alpha val="84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2424" y="21305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全局调度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818888" y="2148840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个体方案 · 多智能体协商 · 全局资源调度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2971800" y="594360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不能跳过个人身份与授权底座，也不能用全局效率覆盖个体需求。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8D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57200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38D8FF">
              <a:alpha val="14000"/>
            </a:srgbClr>
          </a:solidFill>
          <a:ln w="12700">
            <a:solidFill>
              <a:srgbClr val="38D8FF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12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数字分身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1078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代表我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676656" y="1938528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建立一个像我、懂我、可代表我的个人数字身份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76656" y="2926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通过身份复刻、长期记忆和授权治理，让数字分身在自然对话中持续理解用户，并在本人边界内延续关系。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" y="4645152"/>
            <a:ext cx="4846320" cy="749808"/>
          </a:xfrm>
          <a:prstGeom prst="roundRect">
            <a:avLst>
              <a:gd name="adj" fmla="val 609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837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身份复刻  ·  长期记忆  ·  授权治理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693408" y="1005840"/>
            <a:ext cx="3886200" cy="3886200"/>
          </a:xfrm>
          <a:prstGeom prst="ellipse">
            <a:avLst/>
          </a:prstGeom>
          <a:solidFill>
            <a:srgbClr val="38D8FF">
              <a:alpha val="5000"/>
            </a:srgbClr>
          </a:solidFill>
          <a:ln w="12700">
            <a:solidFill>
              <a:srgbClr val="38D8FF">
                <a:alpha val="42000"/>
              </a:srgbClr>
            </a:solidFill>
            <a:prstDash val="solid"/>
          </a:ln>
        </p:spPr>
      </p:sp>
      <p:pic>
        <p:nvPicPr>
          <p:cNvPr id="45" name="Image 0" descr="E:\元梦工作空间\超级智能体\图片素材\蓝色全息网格粒子人像-V2-透明背景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6675120" y="841248"/>
            <a:ext cx="3749040" cy="4828032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48" name="Text 45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8D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01 · DIGITAL AVATAR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诞生我的数字分身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核心价值：从操作软件，变成通过对话让数字分身持续理解我。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47088"/>
            <a:ext cx="2788920" cy="3584448"/>
          </a:xfrm>
          <a:prstGeom prst="roundRect">
            <a:avLst>
              <a:gd name="adj" fmla="val 1639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用户只需要说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6112" y="253288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“我最近开始负责一个新项目，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把它加入我的工作经历。”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96112" y="3904488"/>
            <a:ext cx="2057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不找菜单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不填复杂表单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不理解系统结构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767328" y="2231136"/>
            <a:ext cx="1609344" cy="1965960"/>
          </a:xfrm>
          <a:prstGeom prst="roundRect">
            <a:avLst>
              <a:gd name="adj" fmla="val 284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95344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95344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理解变化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895344" y="321868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识别新的经历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5385816" y="3017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669280" y="2231136"/>
            <a:ext cx="1609344" cy="1965960"/>
          </a:xfrm>
          <a:prstGeom prst="roundRect">
            <a:avLst>
              <a:gd name="adj" fmla="val 284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97296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定位配置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797296" y="321868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· 使命 · 关系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7287768" y="3017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71232" y="2231136"/>
            <a:ext cx="1609344" cy="1965960"/>
          </a:xfrm>
          <a:prstGeom prst="roundRect">
            <a:avLst>
              <a:gd name="adj" fmla="val 284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99248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699248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展示影响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699248" y="321868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哪些场景会变化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9189720" y="3017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473184" y="2231136"/>
            <a:ext cx="1609344" cy="1965960"/>
          </a:xfrm>
          <a:prstGeom prst="roundRect">
            <a:avLst>
              <a:gd name="adj" fmla="val 284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0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601200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本人确认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601200" y="321868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统一更新权威状态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3767328" y="4590288"/>
            <a:ext cx="7315200" cy="841248"/>
          </a:xfrm>
          <a:prstGeom prst="roundRect">
            <a:avLst>
              <a:gd name="adj" fmla="val 5435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9D8A5">
                <a:alpha val="6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86784" y="479145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9D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882896" y="470916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系统负责理解、整理和更新；普通用户只需对话并确认关键结果。</a:t>
            </a:r>
            <a:endParaRPr lang="en-US" sz="1550" dirty="0"/>
          </a:p>
        </p:txBody>
      </p:sp>
      <p:sp>
        <p:nvSpPr>
          <p:cNvPr id="66" name="Shape 64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8D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8D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8D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02 · RELATIONSHIP CONTINUITY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替我持续陪伴粉丝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不是普通客服，而是在本人边界内，让每一位粉丝被持续记住。</a:t>
            </a:r>
            <a:endParaRPr lang="en-US" sz="1200" dirty="0"/>
          </a:p>
        </p:txBody>
      </p:sp>
      <p:pic>
        <p:nvPicPr>
          <p:cNvPr id="40" name="Image 0" descr="E:\元梦工作空间\超级智能体\图片素材\蓝色全息网格粒子人像-V2-透明背景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822960" y="1828800"/>
            <a:ext cx="2423160" cy="3337560"/>
          </a:xfrm>
          <a:prstGeom prst="rect">
            <a:avLst/>
          </a:prstGeom>
        </p:spPr>
      </p:pic>
      <p:pic>
        <p:nvPicPr>
          <p:cNvPr id="41" name="Image 1" descr="E:\元梦工作空间\超级智能体\图片素材\第二人物-全息网格粒子-透明背景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9006840" y="1920240"/>
            <a:ext cx="2148840" cy="312724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2980944" y="2907792"/>
            <a:ext cx="1609344" cy="0"/>
          </a:xfrm>
          <a:prstGeom prst="line">
            <a:avLst/>
          </a:prstGeom>
          <a:noFill/>
          <a:ln w="17780">
            <a:solidFill>
              <a:srgbClr val="38D8F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7571232" y="2907792"/>
            <a:ext cx="1618488" cy="0"/>
          </a:xfrm>
          <a:prstGeom prst="line">
            <a:avLst/>
          </a:prstGeom>
          <a:noFill/>
          <a:ln w="17780">
            <a:solidFill>
              <a:srgbClr val="38D8F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44" name="Shape 40"/>
          <p:cNvSpPr/>
          <p:nvPr/>
        </p:nvSpPr>
        <p:spPr>
          <a:xfrm>
            <a:off x="3749040" y="1920240"/>
            <a:ext cx="3703320" cy="3246120"/>
          </a:xfrm>
          <a:prstGeom prst="roundRect">
            <a:avLst>
              <a:gd name="adj" fmla="val 140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986784" y="2157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关系连续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3986784" y="2587752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“你上次说正在准备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第一次公开演讲，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现在进行得怎么样了？”</a:t>
            </a:r>
            <a:endParaRPr lang="en-US" sz="1900" dirty="0"/>
          </a:p>
        </p:txBody>
      </p:sp>
      <p:sp>
        <p:nvSpPr>
          <p:cNvPr id="47" name="Shape 43"/>
          <p:cNvSpPr/>
          <p:nvPr/>
        </p:nvSpPr>
        <p:spPr>
          <a:xfrm>
            <a:off x="4160520" y="3986784"/>
            <a:ext cx="2880360" cy="0"/>
          </a:xfrm>
          <a:prstGeom prst="line">
            <a:avLst/>
          </a:prstGeom>
          <a:noFill/>
          <a:ln w="12700">
            <a:solidFill>
              <a:srgbClr val="1C354C">
                <a:alpha val="75000"/>
              </a:srgbClr>
            </a:solidFill>
            <a:prstDash val="solid"/>
            <a:tailEnd type="none"/>
          </a:ln>
        </p:spPr>
      </p:sp>
      <p:sp>
        <p:nvSpPr>
          <p:cNvPr id="48" name="Text 44"/>
          <p:cNvSpPr/>
          <p:nvPr/>
        </p:nvSpPr>
        <p:spPr>
          <a:xfrm>
            <a:off x="4041648" y="4224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透明身份  ·  记忆同意  ·  披露边界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353312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93726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粉丝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1353312" y="5577840"/>
            <a:ext cx="9464040" cy="493776"/>
          </a:xfrm>
          <a:prstGeom prst="roundRect">
            <a:avLst>
              <a:gd name="adj" fmla="val 9259"/>
            </a:avLst>
          </a:prstGeom>
          <a:solidFill>
            <a:srgbClr val="0A1726">
              <a:alpha val="94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572768" y="5696712"/>
            <a:ext cx="903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一次问答  →  被记住的关系  →  持续陪伴  →  重要事项交回本人</a:t>
            </a:r>
            <a:endParaRPr lang="en-US" sz="1350" dirty="0"/>
          </a:p>
        </p:txBody>
      </p:sp>
      <p:sp>
        <p:nvSpPr>
          <p:cNvPr id="53" name="Shape 4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4E8D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57200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4E8DFF">
              <a:alpha val="14000"/>
            </a:srgbClr>
          </a:solidFill>
          <a:ln w="12700">
            <a:solidFill>
              <a:srgbClr val="4E8DFF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12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智能伙伴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1078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替我办事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676656" y="1938528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从“能代表我说话”到“能替我把事情办成”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76656" y="2926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第二阶段只建设MCP连接与行动能力。用户表达目标，智能伙伴负责拆解、调用服务、处理异常并交付结果。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" y="4645152"/>
            <a:ext cx="4846320" cy="749808"/>
          </a:xfrm>
          <a:prstGeom prst="roundRect">
            <a:avLst>
              <a:gd name="adj" fmla="val 609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837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目标理解  ·  MCP编排  ·  异常恢复  ·  结果回执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7662672" y="2340864"/>
            <a:ext cx="1682496" cy="1682496"/>
          </a:xfrm>
          <a:prstGeom prst="ellipse">
            <a:avLst/>
          </a:prstGeom>
          <a:solidFill>
            <a:srgbClr val="0D2033"/>
          </a:solidFill>
          <a:ln w="17780">
            <a:solidFill>
              <a:srgbClr val="4E8DFF">
                <a:alpha val="86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智能伙伴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092440" y="3182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503920" y="3182112"/>
            <a:ext cx="-1901952" cy="-1636776"/>
          </a:xfrm>
          <a:prstGeom prst="line">
            <a:avLst/>
          </a:prstGeom>
          <a:noFill/>
          <a:ln w="12700">
            <a:solidFill>
              <a:srgbClr val="4E8DFF">
                <a:alpha val="75000"/>
              </a:srgbClr>
            </a:solidFill>
            <a:prstDash val="dash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6263640" y="1207008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4E8DFF">
                <a:alpha val="82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1261872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503920" y="3182112"/>
            <a:ext cx="91440" cy="-1947672"/>
          </a:xfrm>
          <a:prstGeom prst="line">
            <a:avLst/>
          </a:prstGeom>
          <a:noFill/>
          <a:ln w="12700">
            <a:solidFill>
              <a:srgbClr val="3EDFC3">
                <a:alpha val="75000"/>
              </a:srgbClr>
            </a:solidFill>
            <a:prstDash val="dash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257032" y="896112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3EDFC3">
                <a:alpha val="8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93608" y="95097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503920" y="3182112"/>
            <a:ext cx="2093976" cy="-1545336"/>
          </a:xfrm>
          <a:prstGeom prst="line">
            <a:avLst/>
          </a:prstGeom>
          <a:noFill/>
          <a:ln w="12700">
            <a:solidFill>
              <a:srgbClr val="4E8DFF">
                <a:alpha val="75000"/>
              </a:srgbClr>
            </a:solidFill>
            <a:prstDash val="dash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0259568" y="1298448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4E8DFF">
                <a:alpha val="8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96144" y="1353312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503920" y="3182112"/>
            <a:ext cx="2368296" cy="173736"/>
          </a:xfrm>
          <a:prstGeom prst="line">
            <a:avLst/>
          </a:prstGeom>
          <a:noFill/>
          <a:ln w="12700">
            <a:solidFill>
              <a:srgbClr val="3EDFC3">
                <a:alpha val="75000"/>
              </a:srgbClr>
            </a:solidFill>
            <a:prstDash val="dash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10533888" y="3017520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3EDFC3">
                <a:alpha val="8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70464" y="3072384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503920" y="3182112"/>
            <a:ext cx="1847088" cy="1911096"/>
          </a:xfrm>
          <a:prstGeom prst="line">
            <a:avLst/>
          </a:prstGeom>
          <a:noFill/>
          <a:ln w="12700">
            <a:solidFill>
              <a:srgbClr val="4E8DFF">
                <a:alpha val="75000"/>
              </a:srgbClr>
            </a:solidFill>
            <a:prstDash val="dash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0012680" y="4754880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4E8DFF">
                <a:alpha val="82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49256" y="4809744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503920" y="3182112"/>
            <a:ext cx="-100584" cy="2231136"/>
          </a:xfrm>
          <a:prstGeom prst="line">
            <a:avLst/>
          </a:prstGeom>
          <a:noFill/>
          <a:ln w="12700">
            <a:solidFill>
              <a:srgbClr val="3EDFC3">
                <a:alpha val="75000"/>
              </a:srgbClr>
            </a:solidFill>
            <a:prstDash val="dash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065008" y="5074920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3EDFC3">
                <a:alpha val="82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01584" y="5129784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503920" y="3182112"/>
            <a:ext cx="-1965960" cy="1709928"/>
          </a:xfrm>
          <a:prstGeom prst="line">
            <a:avLst/>
          </a:prstGeom>
          <a:noFill/>
          <a:ln w="12700">
            <a:solidFill>
              <a:srgbClr val="4E8DFF">
                <a:alpha val="75000"/>
              </a:srgbClr>
            </a:solidFill>
            <a:prstDash val="dash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6199632" y="4553712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4E8DFF">
                <a:alpha val="8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36208" y="460857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503920" y="3182112"/>
            <a:ext cx="-2404872" cy="-27432"/>
          </a:xfrm>
          <a:prstGeom prst="line">
            <a:avLst/>
          </a:prstGeom>
          <a:noFill/>
          <a:ln w="12700">
            <a:solidFill>
              <a:srgbClr val="3EDFC3">
                <a:alpha val="75000"/>
              </a:srgbClr>
            </a:solidFill>
            <a:prstDash val="dash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5760720" y="2816352"/>
            <a:ext cx="676656" cy="67665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3EDFC3">
                <a:alpha val="8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97296" y="287121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4E8D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03 · GOAL TO RESULT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我只说一句，它把整件事办完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用户表达结果，智能伙伴接管步骤。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28800"/>
            <a:ext cx="2788920" cy="3611880"/>
          </a:xfrm>
          <a:prstGeom prst="roundRect">
            <a:avLst>
              <a:gd name="adj" fmla="val 1639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用户目标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6112" y="254203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“今晚父母来家里吃饭，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帮我安排一下。”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896112" y="3858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已知上下文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" y="416966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预算 · 家庭关系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饮食偏好 · 过敏风险 · 授权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22192" y="1874520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0208" y="1993392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50208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规划菜单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3950208" y="26426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偏好与健康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45352" y="1874520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1993392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73368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采购点餐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373368" y="26426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餐饮与购物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668512" y="1874520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96528" y="1993392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796528" y="2267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协调时间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796528" y="26426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日历与通讯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822192" y="3447288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50208" y="3566160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95020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准备环境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395020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智能家居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45352" y="3447288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73368" y="3566160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7336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处理异常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637336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替代与续办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668512" y="3447288"/>
            <a:ext cx="2103120" cy="1225296"/>
          </a:xfrm>
          <a:prstGeom prst="roundRect">
            <a:avLst>
              <a:gd name="adj" fmla="val 373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9D8A5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96528" y="3566160"/>
            <a:ext cx="320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9D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79652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交付回执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87965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结果与费用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822192" y="4901184"/>
            <a:ext cx="6949440" cy="548640"/>
          </a:xfrm>
          <a:prstGeom prst="roundRect">
            <a:avLst>
              <a:gd name="adj" fmla="val 8333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49D8A5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0792" y="50383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49D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结果：晚餐已安排 · 家人已通知 · 异常已处理 · 费用可追溯</a:t>
            </a:r>
            <a:endParaRPr lang="en-US" sz="1260" dirty="0"/>
          </a:p>
        </p:txBody>
      </p:sp>
      <p:sp>
        <p:nvSpPr>
          <p:cNvPr id="71" name="Shape 6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4E8D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4E8D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4E8D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04 · MCP JOURNEY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一句话，它把我送到目的地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多个出行服务，被编排成一条连续行动链。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56232"/>
            <a:ext cx="2423160" cy="3383280"/>
          </a:xfrm>
          <a:prstGeom prst="roundRect">
            <a:avLst>
              <a:gd name="adj" fmla="val 1887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21031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一句话出发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6112" y="2587752"/>
            <a:ext cx="19568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“明天下午去上海见客户，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帮我把行程安排好。”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896112" y="4050792"/>
            <a:ext cx="19476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 · 预算 · 座位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 · 客户地址 · 同行人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456432" y="2331720"/>
            <a:ext cx="1353312" cy="1691640"/>
          </a:xfrm>
          <a:prstGeom prst="roundRect">
            <a:avLst>
              <a:gd name="adj" fmla="val 337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66160" y="281635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3566160" y="322783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800600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38344" y="2331720"/>
            <a:ext cx="1353312" cy="1691640"/>
          </a:xfrm>
          <a:prstGeom prst="roundRect">
            <a:avLst>
              <a:gd name="adj" fmla="val 337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8072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148072" y="281635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148072" y="322783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航班／高铁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382512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620256" y="2331720"/>
            <a:ext cx="1353312" cy="1691640"/>
          </a:xfrm>
          <a:prstGeom prst="roundRect">
            <a:avLst>
              <a:gd name="adj" fmla="val 337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29984" y="281635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6729984" y="322783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地图／打车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7964424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202168" y="2331720"/>
            <a:ext cx="1353312" cy="1691640"/>
          </a:xfrm>
          <a:prstGeom prst="roundRect">
            <a:avLst>
              <a:gd name="adj" fmla="val 337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11896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311896" y="281635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住宿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8311896" y="322783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地址／偏好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9546336" y="294436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784080" y="2331720"/>
            <a:ext cx="1353312" cy="1691640"/>
          </a:xfrm>
          <a:prstGeom prst="roundRect">
            <a:avLst>
              <a:gd name="adj" fmla="val 337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93808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893808" y="281635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9893808" y="322783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日历／通知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3456432" y="4443984"/>
            <a:ext cx="7662672" cy="804672"/>
          </a:xfrm>
          <a:prstGeom prst="roundRect">
            <a:avLst>
              <a:gd name="adj" fmla="val 5682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EDFC3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85032" y="466344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动态变化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617720" y="4581144"/>
            <a:ext cx="6199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延误／拥堵／取消 → 重算整段行程 → 在授权内改签、接驳、住宿与通知</a:t>
            </a:r>
            <a:endParaRPr lang="en-US" sz="1320" dirty="0"/>
          </a:p>
        </p:txBody>
      </p:sp>
      <p:sp>
        <p:nvSpPr>
          <p:cNvPr id="71" name="Text 69"/>
          <p:cNvSpPr/>
          <p:nvPr/>
        </p:nvSpPr>
        <p:spPr>
          <a:xfrm>
            <a:off x="4233672" y="5623560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不依赖摄像头或持续佩戴设备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F2B95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57200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F2B95F">
              <a:alpha val="14000"/>
            </a:srgbClr>
          </a:solidFill>
          <a:ln w="12700">
            <a:solidFill>
              <a:srgbClr val="F2B95F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12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持续在场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1078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与我同在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676656" y="1938528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从“等我告诉它”到“它看见我正在经历什么”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76656" y="2926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在MCP行动力之上加入视觉和可穿戴设备，持续理解人物、环境与事件，只在真正有价值的时刻出现。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" y="4645152"/>
            <a:ext cx="4846320" cy="749808"/>
          </a:xfrm>
          <a:prstGeom prst="roundRect">
            <a:avLst>
              <a:gd name="adj" fmla="val 609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837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视觉理解  ·  第一人称情境  ·  实时判断  ·  现场行动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528816" y="1051560"/>
            <a:ext cx="3977640" cy="3977640"/>
          </a:xfrm>
          <a:prstGeom prst="ellipse">
            <a:avLst/>
          </a:prstGeom>
          <a:solidFill>
            <a:srgbClr val="F2B95F">
              <a:alpha val="5000"/>
            </a:srgbClr>
          </a:solidFill>
          <a:ln w="12700">
            <a:solidFill>
              <a:srgbClr val="F2B95F">
                <a:alpha val="40000"/>
              </a:srgbClr>
            </a:solidFill>
            <a:prstDash val="solid"/>
          </a:ln>
        </p:spPr>
      </p:sp>
      <p:pic>
        <p:nvPicPr>
          <p:cNvPr id="45" name="Image 0" descr="E:\元梦工作空间\超级智能体\图片素材\蓝色全息网格粒子人像-V2-透明背景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6537960" y="841248"/>
            <a:ext cx="3657600" cy="4754880"/>
          </a:xfrm>
          <a:prstGeom prst="rect">
            <a:avLst/>
          </a:prstGeom>
        </p:spPr>
      </p:pic>
      <p:pic>
        <p:nvPicPr>
          <p:cNvPr id="46" name="Image 1" descr="E:\元梦工作空间\超级智能体\图片素材\智能耳机-V7-透明背景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901952"/>
            <a:ext cx="2267712" cy="1682496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625328" y="1417320"/>
            <a:ext cx="585216" cy="58521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F2B95F">
                <a:alpha val="82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661904" y="14721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11009376" y="2926080"/>
            <a:ext cx="585216" cy="58521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F2B95F">
                <a:alpha val="82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1045952" y="298094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10314432" y="4343400"/>
            <a:ext cx="585216" cy="585216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F2B95F">
                <a:alpha val="82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0351008" y="439826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F2B95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05 · RELATION MEMORY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再次见面，它替我记得你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识别一张脸，更要接回与这个人的完整关系。</a:t>
            </a:r>
            <a:endParaRPr lang="en-US" sz="1200" dirty="0"/>
          </a:p>
        </p:txBody>
      </p:sp>
      <p:pic>
        <p:nvPicPr>
          <p:cNvPr id="40" name="Image 0" descr="E:\元梦工作空间\超级智能体\图片素材\第二人物-全息网格粒子-透明背景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777240" y="1828800"/>
            <a:ext cx="2331720" cy="342900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1280160" y="2221992"/>
            <a:ext cx="1078992" cy="1078992"/>
          </a:xfrm>
          <a:prstGeom prst="rect">
            <a:avLst/>
          </a:prstGeom>
          <a:solidFill>
            <a:srgbClr val="F2B95F">
              <a:alpha val="0"/>
            </a:srgbClr>
          </a:solidFill>
          <a:ln w="16510">
            <a:solidFill>
              <a:srgbClr val="F2B95F">
                <a:alpha val="85000"/>
              </a:srgbClr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1024128" y="3794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2B95F">
              <a:alpha val="14000"/>
            </a:srgbClr>
          </a:solidFill>
          <a:ln w="12700">
            <a:solidFill>
              <a:srgbClr val="F2B95F">
                <a:alpha val="6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15568" y="38496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识别置信度 86%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456432" y="1828800"/>
            <a:ext cx="4279392" cy="3419856"/>
          </a:xfrm>
          <a:prstGeom prst="roundRect">
            <a:avLst>
              <a:gd name="adj" fmla="val 1337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03320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耳边私密提示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703320" y="2532888"/>
            <a:ext cx="37673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“这可能是陈晨。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你们上次在深圳产品大会见过，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你答应发给他的渠道资料还没有完成。”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3703320" y="3986784"/>
            <a:ext cx="3721608" cy="0"/>
          </a:xfrm>
          <a:prstGeom prst="line">
            <a:avLst/>
          </a:prstGeom>
          <a:noFill/>
          <a:ln w="12700">
            <a:solidFill>
              <a:srgbClr val="1C354C">
                <a:alpha val="75000"/>
              </a:srgbClr>
            </a:solidFill>
            <a:prstDash val="solid"/>
            <a:tailEnd type="none"/>
          </a:ln>
        </p:spPr>
      </p:sp>
      <p:sp>
        <p:nvSpPr>
          <p:cNvPr id="48" name="Text 45"/>
          <p:cNvSpPr/>
          <p:nvPr/>
        </p:nvSpPr>
        <p:spPr>
          <a:xfrm>
            <a:off x="3803904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可能是谁  ≠  已确认身份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8065008" y="1847088"/>
            <a:ext cx="2926080" cy="841248"/>
          </a:xfrm>
          <a:prstGeom prst="roundRect">
            <a:avLst>
              <a:gd name="adj" fmla="val 5435"/>
            </a:avLst>
          </a:prstGeom>
          <a:solidFill>
            <a:srgbClr val="0A1726">
              <a:alpha val="94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266176" y="201168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942832" y="199339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共同经历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065008" y="2944368"/>
            <a:ext cx="2926080" cy="841248"/>
          </a:xfrm>
          <a:prstGeom prst="roundRect">
            <a:avLst>
              <a:gd name="adj" fmla="val 5435"/>
            </a:avLst>
          </a:prstGeom>
          <a:solidFill>
            <a:srgbClr val="0A1726">
              <a:alpha val="94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66176" y="31089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942832" y="309067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未完成事项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8065008" y="4041648"/>
            <a:ext cx="2926080" cy="841248"/>
          </a:xfrm>
          <a:prstGeom prst="roundRect">
            <a:avLst>
              <a:gd name="adj" fmla="val 5435"/>
            </a:avLst>
          </a:prstGeom>
          <a:solidFill>
            <a:srgbClr val="0A1726">
              <a:alpha val="94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66176" y="420624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942832" y="418795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不可披露信息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60120" y="5541264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170432" y="566928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看见对方 → 接回关系 → 提醒承诺 → 用户确认 → 通过MCP继续完成事情</a:t>
            </a:r>
            <a:endParaRPr lang="en-US" sz="1320" dirty="0"/>
          </a:p>
        </p:txBody>
      </p:sp>
      <p:sp>
        <p:nvSpPr>
          <p:cNvPr id="60" name="Shape 57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62" name="Text 59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F2B95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F2B95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F2B95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06 · CONTINUOUS PRESENCE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会议中的第二大脑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不是会后纪要，而是一条贯穿会前、会中、会后的协作链。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65376"/>
            <a:ext cx="1965960" cy="2011680"/>
          </a:xfrm>
          <a:prstGeom prst="roundRect">
            <a:avLst>
              <a:gd name="adj" fmla="val 232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528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5528" y="2898648"/>
            <a:ext cx="1673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 · 项目 · 报价 · 目标底线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2615184" y="27614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871216" y="1865376"/>
            <a:ext cx="1965960" cy="2011680"/>
          </a:xfrm>
          <a:prstGeom prst="roundRect">
            <a:avLst>
              <a:gd name="adj" fmla="val 232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08376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08376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会中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008376" y="2898648"/>
            <a:ext cx="1673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连续理解对话、数字、条款和态度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4828032" y="27614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84064" y="1865376"/>
            <a:ext cx="1965960" cy="2011680"/>
          </a:xfrm>
          <a:prstGeom prst="roundRect">
            <a:avLst>
              <a:gd name="adj" fmla="val 232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21224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21224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21224" y="2898648"/>
            <a:ext cx="1673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发现冲突、遗漏、风险与承诺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7040880" y="27614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296912" y="1865376"/>
            <a:ext cx="1965960" cy="2011680"/>
          </a:xfrm>
          <a:prstGeom prst="roundRect">
            <a:avLst>
              <a:gd name="adj" fmla="val 232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34072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34072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34072" y="2898648"/>
            <a:ext cx="1673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调资料、记条款、排会议、建任务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253728" y="27614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509760" y="1865376"/>
            <a:ext cx="1965960" cy="2011680"/>
          </a:xfrm>
          <a:prstGeom prst="roundRect">
            <a:avLst>
              <a:gd name="adj" fmla="val 2326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46920" y="202996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646920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646920" y="2898648"/>
            <a:ext cx="16733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确认事项、未决问题、关系变化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658368" y="4315968"/>
            <a:ext cx="6629400" cy="1051560"/>
          </a:xfrm>
          <a:prstGeom prst="roundRect">
            <a:avLst>
              <a:gd name="adj" fmla="val 434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" y="4535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现场提醒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783080" y="4489704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“交付日期比上次确认提前了两周，尚未讨论追加成本。”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2103120" y="502005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最终商务决定仍由用户作出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635240" y="4315968"/>
            <a:ext cx="3904488" cy="1051560"/>
          </a:xfrm>
          <a:prstGeom prst="roundRect">
            <a:avLst>
              <a:gd name="adj" fmla="val 434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EDFC3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82128" y="4535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能力组合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668512" y="4489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视觉持续理解  ＋  MCP行动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AC8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57200"/>
            <a:ext cx="1965960" cy="365760"/>
          </a:xfrm>
          <a:prstGeom prst="roundRect">
            <a:avLst>
              <a:gd name="adj" fmla="val 12500"/>
            </a:avLst>
          </a:prstGeom>
          <a:solidFill>
            <a:srgbClr val="AC88FF">
              <a:alpha val="14000"/>
            </a:srgbClr>
          </a:solidFill>
          <a:ln w="12700">
            <a:solidFill>
              <a:srgbClr val="AC88FF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12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全局调度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10789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跨智能体的全局协作系统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676656" y="1938528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先满足每个个体，再实现全局调度与协作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76656" y="2926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超级元梦先为每个人形成符合其目标、偏好、利益与边界的个性化方案，再寻找协作交集并调度现实资源。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" y="4645152"/>
            <a:ext cx="4846320" cy="749808"/>
          </a:xfrm>
          <a:prstGeom prst="roundRect">
            <a:avLst>
              <a:gd name="adj" fmla="val 609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4837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个体建模  ·  个性化方案  ·  多方协商  ·  全局调度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7543800" y="1143000"/>
            <a:ext cx="2788920" cy="1920240"/>
          </a:xfrm>
          <a:prstGeom prst="ellipse">
            <a:avLst/>
          </a:prstGeom>
          <a:solidFill>
            <a:srgbClr val="AC88FF">
              <a:alpha val="23000"/>
            </a:srgbClr>
          </a:solidFill>
          <a:ln w="19050">
            <a:solidFill>
              <a:srgbClr val="AC88FF">
                <a:alpha val="8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91272" y="1389888"/>
            <a:ext cx="932688" cy="1133856"/>
          </a:xfrm>
          <a:prstGeom prst="ellipse">
            <a:avLst/>
          </a:prstGeom>
          <a:solidFill>
            <a:srgbClr val="D276FF">
              <a:alpha val="28000"/>
            </a:srgbClr>
          </a:solidFill>
          <a:ln w="12700">
            <a:solidFill>
              <a:srgbClr val="D276FF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06840" y="1389888"/>
            <a:ext cx="932688" cy="1133856"/>
          </a:xfrm>
          <a:prstGeom prst="ellipse">
            <a:avLst/>
          </a:prstGeom>
          <a:solidFill>
            <a:srgbClr val="AC88FF">
              <a:alpha val="28000"/>
            </a:srgbClr>
          </a:solidFill>
          <a:ln w="12700">
            <a:solidFill>
              <a:srgbClr val="AC88FF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19476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超级元梦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924544" y="2779776"/>
            <a:ext cx="-2377440" cy="1938528"/>
          </a:xfrm>
          <a:prstGeom prst="line">
            <a:avLst/>
          </a:prstGeom>
          <a:noFill/>
          <a:ln w="1397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172200" y="4343400"/>
            <a:ext cx="749808" cy="749808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AC88FF">
                <a:alpha val="8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08776" y="4398264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924544" y="2779776"/>
            <a:ext cx="-731520" cy="2423160"/>
          </a:xfrm>
          <a:prstGeom prst="line">
            <a:avLst/>
          </a:prstGeom>
          <a:noFill/>
          <a:ln w="1397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818120" y="4828032"/>
            <a:ext cx="749808" cy="749808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AC88FF">
                <a:alpha val="8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54696" y="4882896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24544" y="2779776"/>
            <a:ext cx="960120" cy="2185416"/>
          </a:xfrm>
          <a:prstGeom prst="line">
            <a:avLst/>
          </a:prstGeom>
          <a:noFill/>
          <a:ln w="1397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509760" y="4590288"/>
            <a:ext cx="749808" cy="749808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AC88FF">
                <a:alpha val="8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46336" y="4645152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个体C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924544" y="2779776"/>
            <a:ext cx="2130552" cy="1280160"/>
          </a:xfrm>
          <a:prstGeom prst="line">
            <a:avLst/>
          </a:prstGeom>
          <a:noFill/>
          <a:ln w="13970">
            <a:solidFill>
              <a:srgbClr val="F2B95F">
                <a:alpha val="75000"/>
              </a:srgbClr>
            </a:solidFill>
            <a:prstDash val="dash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0680192" y="3685032"/>
            <a:ext cx="749808" cy="749808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F2B95F">
                <a:alpha val="8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16768" y="3739896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924544" y="2779776"/>
            <a:ext cx="-2651760" cy="502920"/>
          </a:xfrm>
          <a:prstGeom prst="line">
            <a:avLst/>
          </a:prstGeom>
          <a:noFill/>
          <a:ln w="1397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5897880" y="2907792"/>
            <a:ext cx="749808" cy="749808"/>
          </a:xfrm>
          <a:prstGeom prst="ellipse">
            <a:avLst/>
          </a:prstGeom>
          <a:solidFill>
            <a:srgbClr val="0D2033">
              <a:alpha val="98000"/>
            </a:srgbClr>
          </a:solidFill>
          <a:ln w="15240">
            <a:solidFill>
              <a:srgbClr val="AC88FF">
                <a:alpha val="82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34456" y="2962656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AC8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PRINCIPLE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个体价值先闭环，全局协作再发生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全局方案必须同时对每个人成立，也对整体协作成立。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28800"/>
            <a:ext cx="3182112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 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19072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偏好 / 时间 / 边界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0" y="2267712"/>
            <a:ext cx="886968" cy="0"/>
          </a:xfrm>
          <a:prstGeom prst="line">
            <a:avLst/>
          </a:prstGeom>
          <a:noFill/>
          <a:ln w="13970">
            <a:solidFill>
              <a:srgbClr val="38D8F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736592" y="18288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1975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个性化方案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965192" y="22768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先对这个人成立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05472" y="2267712"/>
            <a:ext cx="676656" cy="704088"/>
          </a:xfrm>
          <a:prstGeom prst="line">
            <a:avLst/>
          </a:prstGeom>
          <a:noFill/>
          <a:ln w="1270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658368" y="2971800"/>
            <a:ext cx="3182112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" y="3136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 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19072" y="3136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 / 成本 / 资源 / 风险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40480" y="3410712"/>
            <a:ext cx="886968" cy="0"/>
          </a:xfrm>
          <a:prstGeom prst="line">
            <a:avLst/>
          </a:prstGeom>
          <a:noFill/>
          <a:ln w="13970">
            <a:solidFill>
              <a:srgbClr val="F2B95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736592" y="29718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65192" y="3118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个性化方案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965192" y="34198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先对这个人成立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05472" y="3410712"/>
            <a:ext cx="676656" cy="-438912"/>
          </a:xfrm>
          <a:prstGeom prst="line">
            <a:avLst/>
          </a:prstGeom>
          <a:noFill/>
          <a:ln w="1270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658368" y="4114800"/>
            <a:ext cx="3182112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EDFC3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" y="4279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 C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719072" y="4279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 / 健康 / 位置 / 授权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40480" y="4553712"/>
            <a:ext cx="886968" cy="0"/>
          </a:xfrm>
          <a:prstGeom prst="line">
            <a:avLst/>
          </a:prstGeom>
          <a:noFill/>
          <a:ln w="13970">
            <a:solidFill>
              <a:srgbClr val="3EDFC3">
                <a:alpha val="75000"/>
              </a:srgbClr>
            </a:solidFill>
            <a:prstDash val="dash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736592" y="41148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EDFC3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5192" y="4261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个性化方案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965192" y="45628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先对这个人成立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05472" y="4553712"/>
            <a:ext cx="676656" cy="-1581912"/>
          </a:xfrm>
          <a:prstGeom prst="line">
            <a:avLst/>
          </a:prstGeom>
          <a:noFill/>
          <a:ln w="12700">
            <a:solidFill>
              <a:srgbClr val="AC88FF">
                <a:alpha val="75000"/>
              </a:srgbClr>
            </a:solidFill>
            <a:prstDash val="dash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7772400" y="1856232"/>
            <a:ext cx="1965960" cy="1965960"/>
          </a:xfrm>
          <a:prstGeom prst="ellipse">
            <a:avLst/>
          </a:prstGeom>
          <a:solidFill>
            <a:srgbClr val="AC88FF">
              <a:alpha val="22000"/>
            </a:srgbClr>
          </a:solidFill>
          <a:ln w="17780">
            <a:solidFill>
              <a:srgbClr val="AC88FF">
                <a:alpha val="88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23957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协作交集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083296" y="27980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共同可接受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738360" y="2834640"/>
            <a:ext cx="484632" cy="0"/>
          </a:xfrm>
          <a:prstGeom prst="line">
            <a:avLst/>
          </a:prstGeom>
          <a:noFill/>
          <a:ln w="16510">
            <a:solidFill>
              <a:srgbClr val="AC88FF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241280" y="2194560"/>
            <a:ext cx="1298448" cy="1298448"/>
          </a:xfrm>
          <a:prstGeom prst="roundRect">
            <a:avLst>
              <a:gd name="adj" fmla="val 3521"/>
            </a:avLst>
          </a:prstGeom>
          <a:solidFill>
            <a:srgbClr val="0A1726">
              <a:alpha val="97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405872" y="248716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658368" y="5559552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2688" y="5678424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不是所有人接受同一个方案，而是每个人都获得适合自己的结果，整体同时更高效。</a:t>
            </a:r>
            <a:endParaRPr lang="en-US" sz="1430" dirty="0"/>
          </a:p>
        </p:txBody>
      </p:sp>
      <p:sp>
        <p:nvSpPr>
          <p:cNvPr id="72" name="Shape 70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AC8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07 · HIDDEN OPPORTUNITY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发现一场还没有被任何人说出口的合作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先证明合作分别对双方有价值，再促成跨智能体协作。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47088"/>
            <a:ext cx="2971800" cy="3611880"/>
          </a:xfrm>
          <a:prstGeom prst="roundRect">
            <a:avLst>
              <a:gd name="adj" fmla="val 153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2066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A 的个体方案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6112" y="2542032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需要渠道能力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希望缩短建设周期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预算与时间有限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112" y="3977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A获得的价值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" y="4297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减少三周建设时间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风险和投入可接受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49640" y="1847088"/>
            <a:ext cx="2971800" cy="3611880"/>
          </a:xfrm>
          <a:prstGeom prst="roundRect">
            <a:avLst>
              <a:gd name="adj" fmla="val 1538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7384" y="2066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B 的个体方案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787384" y="2542032"/>
            <a:ext cx="2240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拥有渠道资源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正在寻找新方向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投入不能影响主业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87384" y="3977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B获得的价值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787384" y="4297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获得新的行业入口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回报与投入相匹配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639312" y="3474720"/>
            <a:ext cx="1042416" cy="0"/>
          </a:xfrm>
          <a:prstGeom prst="line">
            <a:avLst/>
          </a:prstGeom>
          <a:noFill/>
          <a:ln w="13970">
            <a:solidFill>
              <a:srgbClr val="38D8F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549640" y="3474720"/>
            <a:ext cx="-1051560" cy="0"/>
          </a:xfrm>
          <a:prstGeom prst="line">
            <a:avLst/>
          </a:prstGeom>
          <a:noFill/>
          <a:ln w="13970">
            <a:solidFill>
              <a:srgbClr val="F2B95F">
                <a:alpha val="75000"/>
              </a:srgbClr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645152" y="2304288"/>
            <a:ext cx="2889504" cy="2331720"/>
          </a:xfrm>
          <a:prstGeom prst="ellipse">
            <a:avLst/>
          </a:prstGeom>
          <a:solidFill>
            <a:srgbClr val="AC88FF">
              <a:alpha val="21000"/>
            </a:srgbClr>
          </a:solidFill>
          <a:ln w="19050">
            <a:solidFill>
              <a:srgbClr val="AC88FF">
                <a:alpha val="8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272491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超级元梦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965192" y="318211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双方个性化价值都成立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36667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有限披露 → 边界协商 → 真人会面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730752" y="5129784"/>
            <a:ext cx="4727448" cy="658368"/>
          </a:xfrm>
          <a:prstGeom prst="roundRect">
            <a:avLst>
              <a:gd name="adj" fmla="val 6944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49D8A5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8496" y="5294376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9D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结果：不是强行撮合，而是把双向价值成立的隐藏互补变成真实合作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AC8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08 · CITY ORCHESTRATION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城市级变化发生前，超级元梦已经开始调度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先为每个人生成差异化方案，再用真实需求调度城市资源。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" y="1847088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2029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赶高铁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" y="24871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优先时间确定性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72768" y="3218688"/>
            <a:ext cx="6437376" cy="649224"/>
          </a:xfrm>
          <a:prstGeom prst="line">
            <a:avLst/>
          </a:prstGeom>
          <a:noFill/>
          <a:ln w="11430">
            <a:solidFill>
              <a:srgbClr val="38D8FF">
                <a:alpha val="75000"/>
              </a:srgbClr>
            </a:solidFill>
            <a:prstDash val="dash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706624" y="1847088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2029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带孩子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834640" y="24871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少等待、安全接驳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21024" y="3218688"/>
            <a:ext cx="4389120" cy="649224"/>
          </a:xfrm>
          <a:prstGeom prst="line">
            <a:avLst/>
          </a:prstGeom>
          <a:noFill/>
          <a:ln w="11430">
            <a:solidFill>
              <a:srgbClr val="F2B95F">
                <a:alpha val="75000"/>
              </a:srgbClr>
            </a:solidFill>
            <a:prstDash val="dash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754880" y="1847088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EDFC3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2029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预算敏感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82896" y="24871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地铁／公交／拼车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0" y="3218688"/>
            <a:ext cx="2340864" cy="649224"/>
          </a:xfrm>
          <a:prstGeom prst="line">
            <a:avLst/>
          </a:prstGeom>
          <a:noFill/>
          <a:ln w="11430">
            <a:solidFill>
              <a:srgbClr val="3EDFC3">
                <a:alpha val="75000"/>
              </a:srgbClr>
            </a:solidFill>
            <a:prstDash val="dash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6803136" y="1847088"/>
            <a:ext cx="1828800" cy="1371600"/>
          </a:xfrm>
          <a:prstGeom prst="roundRect">
            <a:avLst>
              <a:gd name="adj" fmla="val 3333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D276FF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2029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7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行动不便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931152" y="24871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无障碍与医疗支持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17536" y="3218688"/>
            <a:ext cx="292608" cy="649224"/>
          </a:xfrm>
          <a:prstGeom prst="line">
            <a:avLst/>
          </a:prstGeom>
          <a:noFill/>
          <a:ln w="11430">
            <a:solidFill>
              <a:srgbClr val="D276FF">
                <a:alpha val="75000"/>
              </a:srgbClr>
            </a:solidFill>
            <a:prstDash val="dash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7406640" y="3200400"/>
            <a:ext cx="1508760" cy="1508760"/>
          </a:xfrm>
          <a:prstGeom prst="ellipse">
            <a:avLst/>
          </a:prstGeom>
          <a:solidFill>
            <a:srgbClr val="AC88FF">
              <a:alpha val="23000"/>
            </a:srgbClr>
          </a:solidFill>
          <a:ln w="17780">
            <a:solidFill>
              <a:srgbClr val="AC88FF">
                <a:alpha val="88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26096" y="357530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汇聚真实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个体需求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8915400" y="3950208"/>
            <a:ext cx="557784" cy="0"/>
          </a:xfrm>
          <a:prstGeom prst="line">
            <a:avLst/>
          </a:prstGeom>
          <a:noFill/>
          <a:ln w="15240">
            <a:solidFill>
              <a:srgbClr val="AC88FF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491472" y="1847088"/>
            <a:ext cx="2057400" cy="3639312"/>
          </a:xfrm>
          <a:prstGeom prst="roundRect">
            <a:avLst>
              <a:gd name="adj" fmla="val 2222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10928" y="2066544"/>
            <a:ext cx="1618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城市资源调度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738360" y="2587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不同出口与批次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738360" y="3026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接驳／网约／公交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738360" y="3465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餐饮／住宿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738360" y="3904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医疗／无障碍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73836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持续动态重排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8368" y="4754880"/>
            <a:ext cx="8211312" cy="731520"/>
          </a:xfrm>
          <a:prstGeom prst="roundRect">
            <a:avLst>
              <a:gd name="adj" fmla="val 6250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9D8A5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6112" y="4956048"/>
            <a:ext cx="7754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D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全局方案不是覆盖个人方案，而是由所有个人方案共同形成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2212848" y="5715000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强降雨 × 数万人散场 × 有限运力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71" name="Text 69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3EDFC3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3EDFC3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3EDFC3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3EDFC3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3EDFC3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93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CUMULATIVE CAPABILITY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704088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四阶段能力叠加，同一套可信底座贯穿始终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76656" y="12710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能力不断扩大，用户对身份、数据和行动的最终控制始终不变。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18105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18105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9944" y="18105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智能伙伴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10728" y="18105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持续在场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11512" y="18105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全局调度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936" y="2276856"/>
            <a:ext cx="10835640" cy="530352"/>
          </a:xfrm>
          <a:prstGeom prst="rect">
            <a:avLst/>
          </a:prstGeom>
          <a:solidFill>
            <a:srgbClr val="0A1726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身份、人格与长期记忆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58968" y="2432304"/>
            <a:ext cx="201168" cy="201168"/>
          </a:xfrm>
          <a:prstGeom prst="ellipse">
            <a:avLst/>
          </a:prstGeom>
          <a:solidFill>
            <a:srgbClr val="38D8FF">
              <a:alpha val="92000"/>
            </a:srgbClr>
          </a:solidFill>
          <a:ln w="12700">
            <a:solidFill>
              <a:srgbClr val="38D8FF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59752" y="2432304"/>
            <a:ext cx="201168" cy="201168"/>
          </a:xfrm>
          <a:prstGeom prst="ellipse">
            <a:avLst/>
          </a:prstGeom>
          <a:solidFill>
            <a:srgbClr val="4E8DFF">
              <a:alpha val="92000"/>
            </a:srgbClr>
          </a:solidFill>
          <a:ln w="12700">
            <a:solidFill>
              <a:srgbClr val="4E8DFF">
                <a:alpha val="9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0536" y="2432304"/>
            <a:ext cx="201168" cy="201168"/>
          </a:xfrm>
          <a:prstGeom prst="ellipse">
            <a:avLst/>
          </a:prstGeom>
          <a:solidFill>
            <a:srgbClr val="F2B95F">
              <a:alpha val="92000"/>
            </a:srgbClr>
          </a:solidFill>
          <a:ln w="12700">
            <a:solidFill>
              <a:srgbClr val="F2B95F">
                <a:alpha val="9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61320" y="2432304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关系连续与授权代理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58968" y="2962656"/>
            <a:ext cx="201168" cy="201168"/>
          </a:xfrm>
          <a:prstGeom prst="ellipse">
            <a:avLst/>
          </a:prstGeom>
          <a:solidFill>
            <a:srgbClr val="38D8FF">
              <a:alpha val="92000"/>
            </a:srgbClr>
          </a:solidFill>
          <a:ln w="12700">
            <a:solidFill>
              <a:srgbClr val="38D8FF">
                <a:alpha val="9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59752" y="2962656"/>
            <a:ext cx="201168" cy="201168"/>
          </a:xfrm>
          <a:prstGeom prst="ellipse">
            <a:avLst/>
          </a:prstGeom>
          <a:solidFill>
            <a:srgbClr val="4E8DFF">
              <a:alpha val="92000"/>
            </a:srgbClr>
          </a:solidFill>
          <a:ln w="12700">
            <a:solidFill>
              <a:srgbClr val="4E8DFF">
                <a:alpha val="9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0536" y="2962656"/>
            <a:ext cx="201168" cy="201168"/>
          </a:xfrm>
          <a:prstGeom prst="ellipse">
            <a:avLst/>
          </a:prstGeom>
          <a:solidFill>
            <a:srgbClr val="F2B95F">
              <a:alpha val="92000"/>
            </a:srgbClr>
          </a:solidFill>
          <a:ln w="12700">
            <a:solidFill>
              <a:srgbClr val="F2B95F">
                <a:alpha val="9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61320" y="2962656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" y="3337560"/>
            <a:ext cx="10835640" cy="530352"/>
          </a:xfrm>
          <a:prstGeom prst="rect">
            <a:avLst/>
          </a:prstGeom>
          <a:solidFill>
            <a:srgbClr val="0A1726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3364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MCP现实服务与任务执行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58968" y="3493008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59752" y="3493008"/>
            <a:ext cx="201168" cy="201168"/>
          </a:xfrm>
          <a:prstGeom prst="ellipse">
            <a:avLst/>
          </a:prstGeom>
          <a:solidFill>
            <a:srgbClr val="4E8DFF">
              <a:alpha val="92000"/>
            </a:srgbClr>
          </a:solidFill>
          <a:ln w="12700">
            <a:solidFill>
              <a:srgbClr val="4E8DFF">
                <a:alpha val="9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0536" y="3493008"/>
            <a:ext cx="201168" cy="201168"/>
          </a:xfrm>
          <a:prstGeom prst="ellipse">
            <a:avLst/>
          </a:prstGeom>
          <a:solidFill>
            <a:srgbClr val="F2B95F">
              <a:alpha val="92000"/>
            </a:srgbClr>
          </a:solidFill>
          <a:ln w="12700">
            <a:solidFill>
              <a:srgbClr val="F2B95F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61320" y="3493008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38953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视觉与连续现场理解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458968" y="4023360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59752" y="4023360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60536" y="4023360"/>
            <a:ext cx="201168" cy="201168"/>
          </a:xfrm>
          <a:prstGeom prst="ellipse">
            <a:avLst/>
          </a:prstGeom>
          <a:solidFill>
            <a:srgbClr val="F2B95F">
              <a:alpha val="92000"/>
            </a:srgbClr>
          </a:solidFill>
          <a:ln w="12700">
            <a:solidFill>
              <a:srgbClr val="F2B95F">
                <a:alpha val="9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61320" y="4023360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" y="4398264"/>
            <a:ext cx="10835640" cy="530352"/>
          </a:xfrm>
          <a:prstGeom prst="rect">
            <a:avLst/>
          </a:prstGeom>
          <a:solidFill>
            <a:srgbClr val="0A1726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4425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跨智能体个性化协作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458968" y="4553712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59752" y="4553712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60536" y="4553712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561320" y="4553712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" y="4956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全局资源调度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458968" y="5084064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59752" y="5084064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60536" y="5084064"/>
            <a:ext cx="201168" cy="201168"/>
          </a:xfrm>
          <a:prstGeom prst="ellipse">
            <a:avLst/>
          </a:prstGeom>
          <a:solidFill>
            <a:srgbClr val="050A12">
              <a:alpha val="0"/>
            </a:srgbClr>
          </a:solidFill>
          <a:ln w="12700">
            <a:solidFill>
              <a:srgbClr val="50677D">
                <a:alpha val="2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61320" y="5084064"/>
            <a:ext cx="201168" cy="201168"/>
          </a:xfrm>
          <a:prstGeom prst="ellipse">
            <a:avLst/>
          </a:prstGeom>
          <a:solidFill>
            <a:srgbClr val="AC88FF">
              <a:alpha val="92000"/>
            </a:srgbClr>
          </a:solidFill>
          <a:ln w="12700">
            <a:solidFill>
              <a:srgbClr val="AC88FF">
                <a:alpha val="9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85800" y="5440680"/>
            <a:ext cx="2514600" cy="566928"/>
          </a:xfrm>
          <a:prstGeom prst="roundRect">
            <a:avLst>
              <a:gd name="adj" fmla="val 8065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3816" y="558698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用户拥有身份和数据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410712" y="5440680"/>
            <a:ext cx="2514600" cy="566928"/>
          </a:xfrm>
          <a:prstGeom prst="roundRect">
            <a:avLst>
              <a:gd name="adj" fmla="val 8065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38728" y="558698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授权范围内自主执行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135624" y="5440680"/>
            <a:ext cx="2514600" cy="566928"/>
          </a:xfrm>
          <a:prstGeom prst="roundRect">
            <a:avLst>
              <a:gd name="adj" fmla="val 8065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63640" y="558698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重大事项交回本人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860536" y="5440680"/>
            <a:ext cx="2514600" cy="566928"/>
          </a:xfrm>
          <a:prstGeom prst="roundRect">
            <a:avLst>
              <a:gd name="adj" fmla="val 8065"/>
            </a:avLst>
          </a:prstGeom>
          <a:solidFill>
            <a:srgbClr val="0A1726">
              <a:alpha val="95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88552" y="558698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全过程可追溯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EDF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560320"/>
            <a:ext cx="6492240" cy="6492240"/>
          </a:xfrm>
          <a:prstGeom prst="ellipse">
            <a:avLst/>
          </a:prstGeom>
          <a:solidFill>
            <a:srgbClr val="AC88FF">
              <a:alpha val="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297680"/>
            <a:ext cx="4206240" cy="4206240"/>
          </a:xfrm>
          <a:prstGeom prst="ellipse">
            <a:avLst/>
          </a:prstGeom>
          <a:solidFill>
            <a:srgbClr val="4E8DFF">
              <a:alpha val="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7548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59436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241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411480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26187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5836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14300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530352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06256" y="125272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694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98755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090672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42793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3511296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80060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404164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05856" y="52669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3832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455371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49300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4983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0" y="32186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20272" y="429768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6053328"/>
            <a:ext cx="32004" cy="32004"/>
          </a:xfrm>
          <a:prstGeom prst="ellipse">
            <a:avLst/>
          </a:prstGeom>
          <a:solidFill>
            <a:srgbClr val="AC88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95728" y="5733288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1648" y="6181344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5870448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6144768"/>
            <a:ext cx="32004" cy="32004"/>
          </a:xfrm>
          <a:prstGeom prst="ellipse">
            <a:avLst/>
          </a:prstGeom>
          <a:solidFill>
            <a:srgbClr val="F7FAFC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5760720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6126480"/>
            <a:ext cx="19202" cy="19202"/>
          </a:xfrm>
          <a:prstGeom prst="ellipse">
            <a:avLst/>
          </a:prstGeom>
          <a:solidFill>
            <a:srgbClr val="AC88FF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20272" y="5650992"/>
            <a:ext cx="19202" cy="19202"/>
          </a:xfrm>
          <a:prstGeom prst="ellipse">
            <a:avLst/>
          </a:prstGeom>
          <a:solidFill>
            <a:srgbClr val="F7FAFC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9601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1A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最终，我们交付的不是一个更会聊天的AI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8368" y="1719072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而是一个能代表我、替我办事、与我同在的智能伙伴</a:t>
            </a:r>
            <a:endParaRPr lang="en-US" sz="2900" dirty="0"/>
          </a:p>
        </p:txBody>
      </p:sp>
      <p:sp>
        <p:nvSpPr>
          <p:cNvPr id="39" name="Text 37"/>
          <p:cNvSpPr/>
          <p:nvPr/>
        </p:nvSpPr>
        <p:spPr>
          <a:xfrm>
            <a:off x="914400" y="2624328"/>
            <a:ext cx="10378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以及一个在满足每个个体基础上，实现 </a:t>
            </a:r>
            <a:pPr algn="ctr" indent="0" marL="0">
              <a:buNone/>
            </a:pPr>
            <a:r>
              <a:rPr lang="en-US" sz="23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全局调度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3493008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8个场景，讲清同一次成长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41832" y="4709160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38D8FF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4882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026664" y="5038344"/>
            <a:ext cx="685800" cy="0"/>
          </a:xfrm>
          <a:prstGeom prst="line">
            <a:avLst/>
          </a:prstGeom>
          <a:noFill/>
          <a:ln w="12700">
            <a:solidFill>
              <a:srgbClr val="50677D">
                <a:alpha val="75000"/>
              </a:srgbClr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712464" y="4709160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4E8D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22192" y="4882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智能伙伴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797296" y="5038344"/>
            <a:ext cx="685800" cy="0"/>
          </a:xfrm>
          <a:prstGeom prst="line">
            <a:avLst/>
          </a:prstGeom>
          <a:noFill/>
          <a:ln w="12700">
            <a:solidFill>
              <a:srgbClr val="50677D">
                <a:alpha val="75000"/>
              </a:srgbClr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483096" y="4709160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F2B95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4882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持续在场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567928" y="5038344"/>
            <a:ext cx="685800" cy="0"/>
          </a:xfrm>
          <a:prstGeom prst="line">
            <a:avLst/>
          </a:prstGeom>
          <a:noFill/>
          <a:ln w="12700">
            <a:solidFill>
              <a:srgbClr val="50677D">
                <a:alpha val="75000"/>
              </a:srgbClr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253728" y="4709160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0A1726">
              <a:alpha val="96000"/>
            </a:srgbClr>
          </a:solidFill>
          <a:ln w="12700">
            <a:solidFill>
              <a:srgbClr val="AC88FF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63456" y="4882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全局调度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828800" y="5806440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代表我  →  替我办事  →  与我同在  →  个体优先的全局调度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0080" y="6492240"/>
            <a:ext cx="10899648" cy="0"/>
          </a:xfrm>
          <a:prstGeom prst="line">
            <a:avLst/>
          </a:prstGeom>
          <a:noFill/>
          <a:ln w="8890">
            <a:solidFill>
              <a:srgbClr val="1C35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65471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spc="150" kern="0" dirty="0">
                <a:solidFill>
                  <a:srgbClr val="5067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 AGENT · 8 CORE SCENARIOS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0927080" y="6528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C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元梦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超级智能体新版四阶段规划｜8场景路演版</dc:title>
  <dc:subject>超级智能体新版四阶段规划与8个核心场景</dc:subject>
  <dc:creator>超级智能体项目组</dc:creator>
  <cp:lastModifiedBy>超级智能体项目组</cp:lastModifiedBy>
  <cp:revision>1</cp:revision>
  <dcterms:created xsi:type="dcterms:W3CDTF">2026-09-02T07:26:09Z</dcterms:created>
  <dcterms:modified xsi:type="dcterms:W3CDTF">2026-09-02T07:26:09Z</dcterms:modified>
</cp:coreProperties>
</file>